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Glacial Indifference" charset="1" panose="00000000000000000000"/>
      <p:regular r:id="rId22"/>
    </p:embeddedFont>
    <p:embeddedFont>
      <p:font typeface="Playfair Display Bold" charset="1" panose="00000000000000000000"/>
      <p:regular r:id="rId23"/>
    </p:embeddedFont>
    <p:embeddedFont>
      <p:font typeface="Playfair Display" charset="1" panose="00000000000000000000"/>
      <p:regular r:id="rId24"/>
    </p:embeddedFont>
    <p:embeddedFont>
      <p:font typeface="Glacial Indifference Bold" charset="1" panose="00000800000000000000"/>
      <p:regular r:id="rId25"/>
    </p:embeddedFont>
    <p:embeddedFont>
      <p:font typeface="The Seasons" charset="1" panose="00000000000000000000"/>
      <p:regular r:id="rId26"/>
    </p:embeddedFont>
    <p:embeddedFont>
      <p:font typeface="Muli" charset="1" panose="00000500000000000000"/>
      <p:regular r:id="rId27"/>
    </p:embeddedFont>
    <p:embeddedFont>
      <p:font typeface="Montserrat" charset="1" panose="00000500000000000000"/>
      <p:regular r:id="rId28"/>
    </p:embeddedFont>
    <p:embeddedFont>
      <p:font typeface="Have Heart One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14700" y="1097280"/>
            <a:ext cx="11658600" cy="6000266"/>
            <a:chOff x="0" y="0"/>
            <a:chExt cx="11054080" cy="5689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54080" cy="5689143"/>
            </a:xfrm>
            <a:custGeom>
              <a:avLst/>
              <a:gdLst/>
              <a:ahLst/>
              <a:cxnLst/>
              <a:rect r="r" b="b" t="t" l="l"/>
              <a:pathLst>
                <a:path h="5689143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5689143"/>
                  </a:lnTo>
                  <a:lnTo>
                    <a:pt x="0" y="56891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9" r="0" b="262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11054080" cy="5803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       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BTI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Mid Review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A.Y. 2025-2026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Title: Performance Evaluation of Campus Networks</a:t>
              </a:r>
            </a:p>
            <a:p>
              <a:pPr algn="ctr">
                <a:lnSpc>
                  <a:spcPts val="64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58681" y="6471773"/>
            <a:ext cx="17629319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1"/>
              </a:lnSpc>
            </a:pPr>
          </a:p>
          <a:p>
            <a:pPr algn="just">
              <a:lnSpc>
                <a:spcPts val="4341"/>
              </a:lnSpc>
            </a:pPr>
            <a:r>
              <a:rPr lang="en-US" sz="3618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Atharva Lingayat C002, Aarya Nadiger C004, Naman Sheth C016</a:t>
            </a:r>
          </a:p>
          <a:p>
            <a:pPr algn="just">
              <a:lnSpc>
                <a:spcPts val="4341"/>
              </a:lnSpc>
            </a:pPr>
            <a:r>
              <a:rPr lang="en-US" sz="3618">
                <a:solidFill>
                  <a:srgbClr val="888888"/>
                </a:solidFill>
                <a:latin typeface="Calibri (MS)"/>
                <a:ea typeface="Calibri (MS)"/>
                <a:cs typeface="Calibri (MS)"/>
                <a:sym typeface="Calibri (MS)"/>
              </a:rPr>
              <a:t>Under the guidance of : Prof. Khushbu Chauhan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969733" y="9560320"/>
            <a:ext cx="4343404" cy="547689"/>
            <a:chOff x="0" y="0"/>
            <a:chExt cx="4118191" cy="519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8187" cy="519289"/>
            </a:xfrm>
            <a:custGeom>
              <a:avLst/>
              <a:gdLst/>
              <a:ahLst/>
              <a:cxnLst/>
              <a:rect r="r" b="b" t="t" l="l"/>
              <a:pathLst>
                <a:path h="519289" w="4118187">
                  <a:moveTo>
                    <a:pt x="0" y="0"/>
                  </a:moveTo>
                  <a:lnTo>
                    <a:pt x="4118187" y="0"/>
                  </a:lnTo>
                  <a:lnTo>
                    <a:pt x="4118187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24" r="0" b="-1045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18191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Engineering Dept. MPSTME, Mumbai Campus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15804" y="9560320"/>
            <a:ext cx="3200396" cy="547689"/>
            <a:chOff x="0" y="0"/>
            <a:chExt cx="3034449" cy="5192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34453" cy="519289"/>
            </a:xfrm>
            <a:custGeom>
              <a:avLst/>
              <a:gdLst/>
              <a:ahLst/>
              <a:cxnLst/>
              <a:rect r="r" b="b" t="t" l="l"/>
              <a:pathLst>
                <a:path h="519289" w="3034453">
                  <a:moveTo>
                    <a:pt x="0" y="0"/>
                  </a:moveTo>
                  <a:lnTo>
                    <a:pt x="3034453" y="0"/>
                  </a:lnTo>
                  <a:lnTo>
                    <a:pt x="3034453" y="519289"/>
                  </a:lnTo>
                  <a:lnTo>
                    <a:pt x="0" y="519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0" r="0" b="-638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034449" cy="53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7770" y="4538199"/>
            <a:ext cx="4214904" cy="4114800"/>
          </a:xfrm>
          <a:custGeom>
            <a:avLst/>
            <a:gdLst/>
            <a:ahLst/>
            <a:cxnLst/>
            <a:rect r="r" b="b" t="t" l="l"/>
            <a:pathLst>
              <a:path h="4114800" w="4214904">
                <a:moveTo>
                  <a:pt x="0" y="0"/>
                </a:moveTo>
                <a:lnTo>
                  <a:pt x="4214904" y="0"/>
                </a:lnTo>
                <a:lnTo>
                  <a:pt x="42149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250675"/>
            <a:ext cx="5071012" cy="5007625"/>
          </a:xfrm>
          <a:custGeom>
            <a:avLst/>
            <a:gdLst/>
            <a:ahLst/>
            <a:cxnLst/>
            <a:rect r="r" b="b" t="t" l="l"/>
            <a:pathLst>
              <a:path h="5007625" w="5071012">
                <a:moveTo>
                  <a:pt x="0" y="0"/>
                </a:moveTo>
                <a:lnTo>
                  <a:pt x="5071012" y="0"/>
                </a:lnTo>
                <a:lnTo>
                  <a:pt x="5071012" y="5007625"/>
                </a:lnTo>
                <a:lnTo>
                  <a:pt x="0" y="500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08217" y="4562077"/>
            <a:ext cx="7965433" cy="914346"/>
            <a:chOff x="0" y="0"/>
            <a:chExt cx="10620578" cy="121912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438478" y="-9525"/>
              <a:ext cx="9182100" cy="122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 compare 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etwor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io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 u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der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differ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ent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t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raffic c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nd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itions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25545" y="1200150"/>
            <a:ext cx="8324850" cy="221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99"/>
              </a:lnSpc>
            </a:pPr>
            <a:r>
              <a:rPr lang="en-US" sz="8599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8599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 &amp; Objectives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08217" y="2847631"/>
            <a:ext cx="7965433" cy="914346"/>
            <a:chOff x="0" y="0"/>
            <a:chExt cx="10620578" cy="121912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438478" y="-9525"/>
              <a:ext cx="9182100" cy="122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 perform quantitative p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rforma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ce evalua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ion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of 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campus network top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ol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og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08217" y="6276523"/>
            <a:ext cx="7965433" cy="914346"/>
            <a:chOff x="0" y="0"/>
            <a:chExt cx="10620578" cy="121912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438478" y="-9525"/>
              <a:ext cx="9182100" cy="122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 perform quantitative p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rforma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ce evalua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ion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of 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campus network top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ol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og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08217" y="7987932"/>
            <a:ext cx="7965433" cy="914346"/>
            <a:chOff x="0" y="0"/>
            <a:chExt cx="10620578" cy="121912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438478" y="-9525"/>
              <a:ext cx="9182100" cy="122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To apply data an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aly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is and vis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ualiz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tio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 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for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obj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ctiv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 conclusions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04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2897" y="3723293"/>
            <a:ext cx="5111963" cy="5111963"/>
          </a:xfrm>
          <a:custGeom>
            <a:avLst/>
            <a:gdLst/>
            <a:ahLst/>
            <a:cxnLst/>
            <a:rect r="r" b="b" t="t" l="l"/>
            <a:pathLst>
              <a:path h="5111963" w="5111963">
                <a:moveTo>
                  <a:pt x="0" y="0"/>
                </a:moveTo>
                <a:lnTo>
                  <a:pt x="5111963" y="0"/>
                </a:lnTo>
                <a:lnTo>
                  <a:pt x="5111963" y="5111964"/>
                </a:lnTo>
                <a:lnTo>
                  <a:pt x="0" y="51119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41890" y="4029356"/>
            <a:ext cx="9163146" cy="387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0"/>
              </a:lnSpc>
            </a:pP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 studies (2023–2026) est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ablish Cisco Packet Tracer (CPT) as an effective tool for simulating campus network architectures, routing protocols, VLAN segmentation, and IoT-enabled systems. The literature also 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ighlights the integration of Python-based tools to extend si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ul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tio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analysis. Specifically, SimPy supports event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iv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 perform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nce simulation, NetworkX en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able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graph-bas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to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ogy modeling, 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Matplotlib facilitates visualiz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ation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of network metrics. Together, these tools form a hybrid framework for simulation, analysis, and optimization of campus computer networks.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3919" y="1181100"/>
            <a:ext cx="13298396" cy="109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12"/>
              </a:lnSpc>
            </a:pPr>
            <a:r>
              <a:rPr lang="en-US" sz="8212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Review Summary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95863" y="3586588"/>
            <a:ext cx="5214162" cy="5354724"/>
          </a:xfrm>
          <a:custGeom>
            <a:avLst/>
            <a:gdLst/>
            <a:ahLst/>
            <a:cxnLst/>
            <a:rect r="r" b="b" t="t" l="l"/>
            <a:pathLst>
              <a:path h="5354724" w="5214162">
                <a:moveTo>
                  <a:pt x="0" y="0"/>
                </a:moveTo>
                <a:lnTo>
                  <a:pt x="5214162" y="0"/>
                </a:lnTo>
                <a:lnTo>
                  <a:pt x="5214162" y="5354724"/>
                </a:lnTo>
                <a:lnTo>
                  <a:pt x="0" y="5354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66550"/>
            <a:ext cx="9163146" cy="560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0"/>
              </a:lnSpc>
            </a:pP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Existing studies prim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arily use Cisco Packet Tracer for network topology and protocol simulation or Python tools for analytical modeling, but rarely integrate both approaches in a single framework. Most papers focus on individual 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aspec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ts such as routing performance, IoT devices, or security mechanisms, with limited quantitativ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a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nalysis of simulation-generated network data.</a:t>
            </a:r>
          </a:p>
          <a:p>
            <a:pPr algn="l" marL="0" indent="0" lvl="0">
              <a:lnSpc>
                <a:spcPts val="3410"/>
              </a:lnSpc>
            </a:pPr>
          </a:p>
          <a:p>
            <a:pPr algn="l" marL="0" indent="0" lvl="0">
              <a:lnSpc>
                <a:spcPts val="3410"/>
              </a:lnSpc>
            </a:pP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Addition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ally, dyn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amic traffic modeling 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 topology-based performance evalu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ation</a:t>
            </a:r>
            <a:r>
              <a:rPr lang="en-US" sz="2436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 campus networks remain underexplored. This project addresses these gaps by integrating Cisco Packet Tracer with Python tools (SimPy, NetworkX, and Matplotlib) to enable data-driven simulation, topology analysis, and performance visualization of campus computer networks.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67673" y="1228725"/>
            <a:ext cx="8096372" cy="136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92"/>
              </a:lnSpc>
            </a:pPr>
            <a:r>
              <a:rPr lang="en-US" sz="10292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Gap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8839" y="1373633"/>
            <a:ext cx="8324850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Initial Project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55817" y="1566545"/>
            <a:ext cx="7965433" cy="2431894"/>
            <a:chOff x="0" y="0"/>
            <a:chExt cx="10620578" cy="32425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438478" y="666268"/>
              <a:ext cx="9182100" cy="257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diagram shows two parallel tree-structured networks, each with switches at multiple layers connecting to end-user PCs at the bottom. This represents a classic hierarchical network design with core switches at the top distributing traffic downward.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438478" y="-9525"/>
              <a:ext cx="9182100" cy="619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Hierarchical Switched Network: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01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5161496"/>
            <a:ext cx="6886575" cy="155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green dotted lines at the top indicate redundant links between the core switches of both network trees, providing backup paths and fault tolerance if one connection fails.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4675" y="4577922"/>
            <a:ext cx="6886575" cy="4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3000" spc="-60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000" spc="-60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edundant Core Connectivity: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55817" y="4539822"/>
            <a:ext cx="774058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4675" y="7505673"/>
            <a:ext cx="6886575" cy="194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Each tree has multiple tiers of switches (core, distribution, and access layers) that aggregate connections from numerous PCs (labeled PC17-PC42), efficiently managing traffic flow from many endpoints through progressively fewer uplink connections.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34675" y="6924675"/>
            <a:ext cx="6886575" cy="4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3000" spc="-60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</a:t>
            </a:r>
            <a:r>
              <a:rPr lang="en-US" sz="3000" spc="-60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ti-Layer Distribution: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5817" y="6886575"/>
            <a:ext cx="774058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98839" y="4059454"/>
            <a:ext cx="8698383" cy="5614143"/>
            <a:chOff x="0" y="0"/>
            <a:chExt cx="1542659" cy="9956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42659" cy="995669"/>
            </a:xfrm>
            <a:custGeom>
              <a:avLst/>
              <a:gdLst/>
              <a:ahLst/>
              <a:cxnLst/>
              <a:rect r="r" b="b" t="t" l="l"/>
              <a:pathLst>
                <a:path h="995669" w="1542659">
                  <a:moveTo>
                    <a:pt x="26701" y="0"/>
                  </a:moveTo>
                  <a:lnTo>
                    <a:pt x="1515958" y="0"/>
                  </a:lnTo>
                  <a:cubicBezTo>
                    <a:pt x="1530705" y="0"/>
                    <a:pt x="1542659" y="11955"/>
                    <a:pt x="1542659" y="26701"/>
                  </a:cubicBezTo>
                  <a:lnTo>
                    <a:pt x="1542659" y="968968"/>
                  </a:lnTo>
                  <a:cubicBezTo>
                    <a:pt x="1542659" y="983714"/>
                    <a:pt x="1530705" y="995669"/>
                    <a:pt x="1515958" y="995669"/>
                  </a:cubicBezTo>
                  <a:lnTo>
                    <a:pt x="26701" y="995669"/>
                  </a:lnTo>
                  <a:cubicBezTo>
                    <a:pt x="19620" y="995669"/>
                    <a:pt x="12828" y="992856"/>
                    <a:pt x="7821" y="987848"/>
                  </a:cubicBezTo>
                  <a:cubicBezTo>
                    <a:pt x="2813" y="982841"/>
                    <a:pt x="0" y="976049"/>
                    <a:pt x="0" y="968968"/>
                  </a:cubicBezTo>
                  <a:lnTo>
                    <a:pt x="0" y="26701"/>
                  </a:lnTo>
                  <a:cubicBezTo>
                    <a:pt x="0" y="19620"/>
                    <a:pt x="2813" y="12828"/>
                    <a:pt x="7821" y="7821"/>
                  </a:cubicBezTo>
                  <a:cubicBezTo>
                    <a:pt x="12828" y="2813"/>
                    <a:pt x="19620" y="0"/>
                    <a:pt x="267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51" r="0" b="-751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248150"/>
            <a:ext cx="7459908" cy="5010150"/>
            <a:chOff x="0" y="0"/>
            <a:chExt cx="1335860" cy="8971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5860" cy="897177"/>
            </a:xfrm>
            <a:custGeom>
              <a:avLst/>
              <a:gdLst/>
              <a:ahLst/>
              <a:cxnLst/>
              <a:rect r="r" b="b" t="t" l="l"/>
              <a:pathLst>
                <a:path h="897177" w="1335860">
                  <a:moveTo>
                    <a:pt x="18680" y="0"/>
                  </a:moveTo>
                  <a:lnTo>
                    <a:pt x="1317180" y="0"/>
                  </a:lnTo>
                  <a:cubicBezTo>
                    <a:pt x="1327497" y="0"/>
                    <a:pt x="1335860" y="8364"/>
                    <a:pt x="1335860" y="18680"/>
                  </a:cubicBezTo>
                  <a:lnTo>
                    <a:pt x="1335860" y="878497"/>
                  </a:lnTo>
                  <a:cubicBezTo>
                    <a:pt x="1335860" y="883451"/>
                    <a:pt x="1333892" y="888203"/>
                    <a:pt x="1330389" y="891706"/>
                  </a:cubicBezTo>
                  <a:cubicBezTo>
                    <a:pt x="1326885" y="895209"/>
                    <a:pt x="1322134" y="897177"/>
                    <a:pt x="1317180" y="897177"/>
                  </a:cubicBezTo>
                  <a:lnTo>
                    <a:pt x="18680" y="897177"/>
                  </a:lnTo>
                  <a:cubicBezTo>
                    <a:pt x="13726" y="897177"/>
                    <a:pt x="8975" y="895209"/>
                    <a:pt x="5471" y="891706"/>
                  </a:cubicBezTo>
                  <a:cubicBezTo>
                    <a:pt x="1968" y="888203"/>
                    <a:pt x="0" y="883451"/>
                    <a:pt x="0" y="878497"/>
                  </a:cubicBezTo>
                  <a:lnTo>
                    <a:pt x="0" y="18680"/>
                  </a:lnTo>
                  <a:cubicBezTo>
                    <a:pt x="0" y="13726"/>
                    <a:pt x="1968" y="8975"/>
                    <a:pt x="5471" y="5471"/>
                  </a:cubicBezTo>
                  <a:cubicBezTo>
                    <a:pt x="8975" y="1968"/>
                    <a:pt x="13726" y="0"/>
                    <a:pt x="1868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07" r="0" b="-110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1562141"/>
            <a:ext cx="6886575" cy="2180927"/>
            <a:chOff x="0" y="0"/>
            <a:chExt cx="9182100" cy="29079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852273"/>
              <a:ext cx="9182100" cy="205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network spans multiple floors of a building, with each floor (shown by the rectangular zones) having its own set of access switches connecting end devices. Each floor follows a consistent hierarchical structure for uniformity.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ulti-Floor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Hie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rar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chic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al</a:t>
              </a:r>
              <a:r>
                <a:rPr lang="en-US" sz="3000" spc="-60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Design: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55817" y="1514516"/>
            <a:ext cx="774058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34675" y="4248150"/>
            <a:ext cx="6886575" cy="2572749"/>
            <a:chOff x="0" y="0"/>
            <a:chExt cx="9182100" cy="343033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4074"/>
              <a:ext cx="9182100" cy="257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dotted lines at the top represent a fully meshed core layer that interconnects all floors, providing redundant vertical connectivity throughout the building. This ensures any floor can communicate with any other floor through multiple paths.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9182100" cy="619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Meshed </a:t>
              </a: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Core Backbone: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55817" y="4200525"/>
            <a:ext cx="774058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34675" y="7131063"/>
            <a:ext cx="6886575" cy="2572722"/>
            <a:chOff x="0" y="0"/>
            <a:chExt cx="9182100" cy="343029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54039"/>
              <a:ext cx="9182100" cy="257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Each floor has distribution switches that aggregate connections from access-layer switches and PCs, then connect upward to the building's core switches. This vertical stacking approach efficiently manages inter-floor traffic and provides fault isolation per floor.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9182100" cy="619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Vert</a:t>
              </a: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ical Distribution Model: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55817" y="7083438"/>
            <a:ext cx="774058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6167" y="1352293"/>
            <a:ext cx="7276109" cy="258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0"/>
              </a:lnSpc>
            </a:pPr>
            <a:r>
              <a:rPr lang="en-US" sz="6700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Hier</a:t>
            </a:r>
            <a:r>
              <a:rPr lang="en-US" sz="6700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archical Campus Network Design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513" y="514950"/>
            <a:ext cx="17230974" cy="6198933"/>
            <a:chOff x="0" y="0"/>
            <a:chExt cx="3026365" cy="1088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6365" cy="1088751"/>
            </a:xfrm>
            <a:custGeom>
              <a:avLst/>
              <a:gdLst/>
              <a:ahLst/>
              <a:cxnLst/>
              <a:rect r="r" b="b" t="t" l="l"/>
              <a:pathLst>
                <a:path h="1088751" w="3026365">
                  <a:moveTo>
                    <a:pt x="8087" y="0"/>
                  </a:moveTo>
                  <a:lnTo>
                    <a:pt x="3018277" y="0"/>
                  </a:lnTo>
                  <a:cubicBezTo>
                    <a:pt x="3020422" y="0"/>
                    <a:pt x="3022479" y="852"/>
                    <a:pt x="3023996" y="2369"/>
                  </a:cubicBezTo>
                  <a:cubicBezTo>
                    <a:pt x="3025513" y="3885"/>
                    <a:pt x="3026365" y="5943"/>
                    <a:pt x="3026365" y="8087"/>
                  </a:cubicBezTo>
                  <a:lnTo>
                    <a:pt x="3026365" y="1080663"/>
                  </a:lnTo>
                  <a:cubicBezTo>
                    <a:pt x="3026365" y="1082808"/>
                    <a:pt x="3025513" y="1084865"/>
                    <a:pt x="3023996" y="1086382"/>
                  </a:cubicBezTo>
                  <a:cubicBezTo>
                    <a:pt x="3022479" y="1087898"/>
                    <a:pt x="3020422" y="1088751"/>
                    <a:pt x="3018277" y="1088751"/>
                  </a:cubicBezTo>
                  <a:lnTo>
                    <a:pt x="8087" y="1088751"/>
                  </a:lnTo>
                  <a:cubicBezTo>
                    <a:pt x="5943" y="1088751"/>
                    <a:pt x="3885" y="1087898"/>
                    <a:pt x="2369" y="1086382"/>
                  </a:cubicBezTo>
                  <a:cubicBezTo>
                    <a:pt x="852" y="1084865"/>
                    <a:pt x="0" y="1082808"/>
                    <a:pt x="0" y="1080663"/>
                  </a:cubicBezTo>
                  <a:lnTo>
                    <a:pt x="0" y="8087"/>
                  </a:lnTo>
                  <a:cubicBezTo>
                    <a:pt x="0" y="5943"/>
                    <a:pt x="852" y="3885"/>
                    <a:pt x="2369" y="2369"/>
                  </a:cubicBezTo>
                  <a:cubicBezTo>
                    <a:pt x="3885" y="852"/>
                    <a:pt x="5943" y="0"/>
                    <a:pt x="8087" y="0"/>
                  </a:cubicBezTo>
                  <a:close/>
                </a:path>
              </a:pathLst>
            </a:custGeom>
            <a:blipFill>
              <a:blip r:embed="rId2"/>
              <a:stretch>
                <a:fillRect l="-2138" t="0" r="-213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8513" y="7233657"/>
            <a:ext cx="7965433" cy="2431894"/>
            <a:chOff x="0" y="0"/>
            <a:chExt cx="10620578" cy="324252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438478" y="666268"/>
              <a:ext cx="9182100" cy="257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The main campus router serves as the central hub connecting to external sites via WAN links (red lines) - including remote branch offices, cloud services, and internet - creating a unified enterprise network across multiple physical locations.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438478" y="-9525"/>
              <a:ext cx="9182100" cy="619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Centralized Hub with WAN Connectivity: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3867" y="7233657"/>
            <a:ext cx="7965433" cy="2431894"/>
            <a:chOff x="0" y="0"/>
            <a:chExt cx="10620578" cy="324252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438478" y="666268"/>
              <a:ext cx="9182100" cy="2576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</a:t>
              </a:r>
              <a:r>
                <a:rPr lang="en-US" sz="2199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he green dotted lines show the internal campus LAN divided into multiple zones/buildings, each with distribution switches connecting end devices (printers, PCs, servers), providing logical separation while maintaining centralized routing control.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38478" y="-9525"/>
              <a:ext cx="9182100" cy="619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Segmented Internal Campus: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032078" cy="569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640"/>
                </a:lnSpc>
              </a:pPr>
              <a:r>
                <a:rPr lang="en-US" b="true" sz="2600">
                  <a:solidFill>
                    <a:srgbClr val="D6D9DB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02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888" y="2819185"/>
            <a:ext cx="5869072" cy="5869072"/>
          </a:xfrm>
          <a:custGeom>
            <a:avLst/>
            <a:gdLst/>
            <a:ahLst/>
            <a:cxnLst/>
            <a:rect r="r" b="b" t="t" l="l"/>
            <a:pathLst>
              <a:path h="5869072" w="5869072">
                <a:moveTo>
                  <a:pt x="0" y="0"/>
                </a:moveTo>
                <a:lnTo>
                  <a:pt x="5869071" y="0"/>
                </a:lnTo>
                <a:lnTo>
                  <a:pt x="5869071" y="5869072"/>
                </a:lnTo>
                <a:lnTo>
                  <a:pt x="0" y="5869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23042" y="3830067"/>
            <a:ext cx="9437872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8636" indent="-409318" lvl="1">
              <a:lnSpc>
                <a:spcPts val="4550"/>
              </a:lnSpc>
              <a:buFont typeface="Arial"/>
              <a:buChar char="•"/>
            </a:pPr>
            <a:r>
              <a:rPr lang="en-US" sz="3791" spc="-75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Simpy</a:t>
            </a:r>
          </a:p>
          <a:p>
            <a:pPr algn="l" marL="818636" indent="-409318" lvl="1">
              <a:lnSpc>
                <a:spcPts val="4550"/>
              </a:lnSpc>
              <a:buFont typeface="Arial"/>
              <a:buChar char="•"/>
            </a:pPr>
            <a:r>
              <a:rPr lang="en-US" sz="3791" spc="-75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NetworkX</a:t>
            </a:r>
          </a:p>
          <a:p>
            <a:pPr algn="l" marL="818636" indent="-409318" lvl="1">
              <a:lnSpc>
                <a:spcPts val="4550"/>
              </a:lnSpc>
              <a:buFont typeface="Arial"/>
              <a:buChar char="•"/>
            </a:pPr>
            <a:r>
              <a:rPr lang="en-US" sz="3791" spc="-75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Matplotlib </a:t>
            </a:r>
          </a:p>
          <a:p>
            <a:pPr algn="l" marL="818636" indent="-409318" lvl="1">
              <a:lnSpc>
                <a:spcPts val="4550"/>
              </a:lnSpc>
              <a:buFont typeface="Arial"/>
              <a:buChar char="•"/>
            </a:pPr>
            <a:r>
              <a:rPr lang="en-US" sz="3791" spc="-75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Cisco Packet Tracer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4064" y="844918"/>
            <a:ext cx="7132719" cy="96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8"/>
              </a:lnSpc>
            </a:pPr>
            <a:r>
              <a:rPr lang="en-US" sz="7358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 Stack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4580" y="8143842"/>
            <a:ext cx="7504513" cy="1482141"/>
          </a:xfrm>
          <a:custGeom>
            <a:avLst/>
            <a:gdLst/>
            <a:ahLst/>
            <a:cxnLst/>
            <a:rect r="r" b="b" t="t" l="l"/>
            <a:pathLst>
              <a:path h="1482141" w="7504513">
                <a:moveTo>
                  <a:pt x="0" y="0"/>
                </a:moveTo>
                <a:lnTo>
                  <a:pt x="7504513" y="0"/>
                </a:lnTo>
                <a:lnTo>
                  <a:pt x="7504513" y="1482141"/>
                </a:lnTo>
                <a:lnTo>
                  <a:pt x="0" y="1482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7288" y="2709235"/>
            <a:ext cx="8352988" cy="3592990"/>
            <a:chOff x="0" y="0"/>
            <a:chExt cx="11137318" cy="479065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34415"/>
              <a:ext cx="11137318" cy="3756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5"/>
                </a:lnSpc>
              </a:pPr>
              <a:r>
                <a:rPr lang="en-US" sz="2668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 t</a:t>
              </a:r>
              <a:r>
                <a:rPr lang="en-US" sz="2668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hree-layer Campus Network architecture (Core → Distribution → Access) is created using NetworkX. The Core switch connects to departmental routers (IT, CS, EXTC), and each router connects to multiple host devices.</a:t>
              </a:r>
            </a:p>
            <a:p>
              <a:pPr algn="l" marL="0" indent="0" lvl="0">
                <a:lnSpc>
                  <a:spcPts val="3735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0"/>
              <a:ext cx="11137318" cy="739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6"/>
                </a:lnSpc>
              </a:pPr>
              <a:r>
                <a:rPr lang="en-US" sz="3638" spc="-72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Ne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or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Topology 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Cr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</a:t>
              </a:r>
              <a:r>
                <a:rPr lang="en-US" sz="3638" spc="-72" strike="noStrike" u="none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n: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42560"/>
            <a:ext cx="938885" cy="5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5"/>
              </a:lnSpc>
            </a:pPr>
            <a:r>
              <a:rPr lang="en-US" b="true" sz="3153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337288" y="6302225"/>
            <a:ext cx="8352988" cy="2647263"/>
            <a:chOff x="0" y="0"/>
            <a:chExt cx="11137318" cy="352968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036599"/>
              <a:ext cx="11137318" cy="2493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35"/>
                </a:lnSpc>
              </a:pPr>
              <a:r>
                <a:rPr lang="en-US" sz="2668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Pack</a:t>
              </a:r>
              <a:r>
                <a:rPr lang="en-US" sz="2668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ets travel using the shortest path computed by NetworkX, simulating the behavior of Routing Information Protocol where hop count acts as the routing metric. Packets exceeding the 15-hop RIP limit are dropped.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137318" cy="739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6"/>
                </a:lnSpc>
              </a:pPr>
              <a:r>
                <a:rPr lang="en-US" sz="3638" spc="-72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RIP-Based P</a:t>
              </a:r>
              <a:r>
                <a:rPr lang="en-US" sz="3638" spc="-72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acket Routing: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6235550"/>
            <a:ext cx="938885" cy="5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5"/>
              </a:lnSpc>
            </a:pPr>
            <a:r>
              <a:rPr lang="en-US" b="true" sz="3153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6167" y="1352293"/>
            <a:ext cx="7276109" cy="89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0"/>
              </a:lnSpc>
            </a:pPr>
            <a:r>
              <a:rPr lang="en-US" sz="6700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Walkthrough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4580" y="8143842"/>
            <a:ext cx="7504513" cy="1482141"/>
          </a:xfrm>
          <a:custGeom>
            <a:avLst/>
            <a:gdLst/>
            <a:ahLst/>
            <a:cxnLst/>
            <a:rect r="r" b="b" t="t" l="l"/>
            <a:pathLst>
              <a:path h="1482141" w="7504513">
                <a:moveTo>
                  <a:pt x="0" y="0"/>
                </a:moveTo>
                <a:lnTo>
                  <a:pt x="7504513" y="0"/>
                </a:lnTo>
                <a:lnTo>
                  <a:pt x="7504513" y="1482141"/>
                </a:lnTo>
                <a:lnTo>
                  <a:pt x="0" y="1482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42560"/>
            <a:ext cx="1115891" cy="63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47"/>
              </a:lnSpc>
            </a:pPr>
            <a:r>
              <a:rPr lang="en-US" b="true" sz="3748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583994" y="6111953"/>
            <a:ext cx="9927764" cy="3039693"/>
            <a:chOff x="0" y="0"/>
            <a:chExt cx="13237019" cy="40529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091070"/>
              <a:ext cx="13237019" cy="2961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40"/>
                </a:lnSpc>
              </a:pPr>
              <a:r>
                <a:rPr lang="en-US" sz="3171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</a:t>
              </a:r>
              <a:r>
                <a:rPr lang="en-US" sz="3171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esults are visualized using Matplotlib to display network topology, packet delivery vs loss, hop count distribution, and end-to-end delay, enabling analysis of network performance.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0"/>
              <a:ext cx="13237019" cy="736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67"/>
                </a:lnSpc>
              </a:pPr>
              <a:r>
                <a:rPr lang="en-US" sz="3639" spc="-72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Performance Visualization</a:t>
              </a:r>
              <a:r>
                <a:rPr lang="en-US" sz="3639" spc="-72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: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5950841"/>
            <a:ext cx="1115891" cy="63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47"/>
              </a:lnSpc>
            </a:pPr>
            <a:r>
              <a:rPr lang="en-US" b="true" sz="3748">
                <a:solidFill>
                  <a:srgbClr val="D6D9DB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167" y="1352293"/>
            <a:ext cx="7276109" cy="89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00"/>
              </a:lnSpc>
            </a:pPr>
            <a:r>
              <a:rPr lang="en-US" sz="6700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Walkthrough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583994" y="2709235"/>
            <a:ext cx="8184891" cy="2593958"/>
            <a:chOff x="0" y="0"/>
            <a:chExt cx="10913187" cy="345861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14546"/>
              <a:ext cx="10913187" cy="2444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60"/>
                </a:lnSpc>
              </a:pPr>
              <a:r>
                <a:rPr lang="en-US" sz="2614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</a:t>
              </a:r>
              <a:r>
                <a:rPr lang="en-US" sz="2614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sing SimPy, hosts generate random traffic. The simulation introduces random packet loss (5%), processing delays per hop, and jitter to mimic real network conditions.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10913187" cy="734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78"/>
                </a:lnSpc>
              </a:pPr>
              <a:r>
                <a:rPr lang="en-US" sz="3565" spc="-71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Traffic and Error Simulation</a:t>
              </a:r>
              <a:r>
                <a:rPr lang="en-US" sz="3565" spc="-71">
                  <a:solidFill>
                    <a:srgbClr val="D6D9DB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: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CB7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1999" y="673852"/>
            <a:ext cx="15424001" cy="8939295"/>
            <a:chOff x="0" y="0"/>
            <a:chExt cx="1840252" cy="10665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0252" cy="1066556"/>
            </a:xfrm>
            <a:custGeom>
              <a:avLst/>
              <a:gdLst/>
              <a:ahLst/>
              <a:cxnLst/>
              <a:rect r="r" b="b" t="t" l="l"/>
              <a:pathLst>
                <a:path h="1066556" w="1840252">
                  <a:moveTo>
                    <a:pt x="26603" y="0"/>
                  </a:moveTo>
                  <a:lnTo>
                    <a:pt x="1813649" y="0"/>
                  </a:lnTo>
                  <a:cubicBezTo>
                    <a:pt x="1820705" y="0"/>
                    <a:pt x="1827471" y="2803"/>
                    <a:pt x="1832460" y="7792"/>
                  </a:cubicBezTo>
                  <a:cubicBezTo>
                    <a:pt x="1837449" y="12781"/>
                    <a:pt x="1840252" y="19547"/>
                    <a:pt x="1840252" y="26603"/>
                  </a:cubicBezTo>
                  <a:lnTo>
                    <a:pt x="1840252" y="1039953"/>
                  </a:lnTo>
                  <a:cubicBezTo>
                    <a:pt x="1840252" y="1047009"/>
                    <a:pt x="1837449" y="1053775"/>
                    <a:pt x="1832460" y="1058764"/>
                  </a:cubicBezTo>
                  <a:cubicBezTo>
                    <a:pt x="1827471" y="1063753"/>
                    <a:pt x="1820705" y="1066556"/>
                    <a:pt x="1813649" y="1066556"/>
                  </a:cubicBezTo>
                  <a:lnTo>
                    <a:pt x="26603" y="1066556"/>
                  </a:lnTo>
                  <a:cubicBezTo>
                    <a:pt x="11910" y="1066556"/>
                    <a:pt x="0" y="1054645"/>
                    <a:pt x="0" y="1039953"/>
                  </a:cubicBezTo>
                  <a:lnTo>
                    <a:pt x="0" y="26603"/>
                  </a:lnTo>
                  <a:cubicBezTo>
                    <a:pt x="0" y="19547"/>
                    <a:pt x="2803" y="12781"/>
                    <a:pt x="7792" y="7792"/>
                  </a:cubicBezTo>
                  <a:cubicBezTo>
                    <a:pt x="12781" y="2803"/>
                    <a:pt x="19547" y="0"/>
                    <a:pt x="2660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99" r="0" b="-899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888" y="2819185"/>
            <a:ext cx="5869072" cy="5869072"/>
          </a:xfrm>
          <a:custGeom>
            <a:avLst/>
            <a:gdLst/>
            <a:ahLst/>
            <a:cxnLst/>
            <a:rect r="r" b="b" t="t" l="l"/>
            <a:pathLst>
              <a:path h="5869072" w="5869072">
                <a:moveTo>
                  <a:pt x="0" y="0"/>
                </a:moveTo>
                <a:lnTo>
                  <a:pt x="5869071" y="0"/>
                </a:lnTo>
                <a:lnTo>
                  <a:pt x="5869071" y="5869072"/>
                </a:lnTo>
                <a:lnTo>
                  <a:pt x="0" y="5869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01770" y="1804989"/>
            <a:ext cx="9437872" cy="833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2386" spc="-47" b="tru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Basic topologies in CPT (Cisco Packet Tracer)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Star, mesh, bus, ring, and hierarchical network designs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Understanding how devices interconnect in different configurations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 representation and simulation of network layouts</a:t>
            </a:r>
          </a:p>
          <a:p>
            <a:pPr algn="l" marL="0" indent="0" lvl="0">
              <a:lnSpc>
                <a:spcPts val="2864"/>
              </a:lnSpc>
            </a:pPr>
            <a:r>
              <a:rPr lang="en-US" b="true" sz="2386" spc="-47" strike="noStrike" u="non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</a:t>
            </a:r>
            <a:r>
              <a:rPr lang="en-US" b="true" sz="2386" spc="-47" strike="noStrike" u="non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d/Host devices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PCs, laptops, servers, printers, IP phones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Devices t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 ge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erate or 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onsum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network traffic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Configuration of IP ad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resses,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gateways, and DNS sett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ng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</a:p>
          <a:p>
            <a:pPr algn="l" marL="0" indent="0" lvl="0">
              <a:lnSpc>
                <a:spcPts val="2864"/>
              </a:lnSpc>
            </a:pPr>
            <a:r>
              <a:rPr lang="en-US" b="true" sz="2386" spc="-47" strike="noStrike" u="non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Switch Trunk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Trun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 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links carry traffic for multiple VLANs between switches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802.1Q tagging protocol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Allows VLAN extension across multiple switches in a network</a:t>
            </a:r>
          </a:p>
          <a:p>
            <a:pPr algn="l" marL="0" indent="0" lvl="0">
              <a:lnSpc>
                <a:spcPts val="2864"/>
              </a:lnSpc>
            </a:pPr>
            <a:r>
              <a:rPr lang="en-US" b="true" sz="2386" spc="-47" strike="noStrike" u="non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</a:t>
            </a:r>
            <a:r>
              <a:rPr lang="en-US" b="true" sz="2386" spc="-47" strike="noStrike" u="non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HCP pooling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Dynamic Host Configuration Protocol automatically assigns IP addr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sses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Configuring IP address ranges (pools) for au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omatic distribution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tting default gateways, DNS servers, and lease times</a:t>
            </a:r>
          </a:p>
          <a:p>
            <a:pPr algn="l" marL="0" indent="0" lvl="0">
              <a:lnSpc>
                <a:spcPts val="2864"/>
              </a:lnSpc>
            </a:pPr>
            <a:r>
              <a:rPr lang="en-US" b="true" sz="2386" spc="-47" strike="noStrike" u="none">
                <a:solidFill>
                  <a:srgbClr val="D6D9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RIP V2 routing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Routing Information Proto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ol version 2 - a distance-vector rou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ng pr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tocol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Automatic route advertiseme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</a:t>
            </a: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 between routers</a:t>
            </a:r>
          </a:p>
          <a:p>
            <a:pPr algn="l" marL="515340" indent="-257670" lvl="1">
              <a:lnSpc>
                <a:spcPts val="2864"/>
              </a:lnSpc>
              <a:buFont typeface="Arial"/>
              <a:buChar char="•"/>
            </a:pPr>
            <a:r>
              <a:rPr lang="en-US" sz="2386" spc="-47" strike="noStrike" u="none">
                <a:solidFill>
                  <a:srgbClr val="D6D9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hop count as metric (max 15 hops)</a:t>
            </a:r>
          </a:p>
          <a:p>
            <a:pPr algn="l" marL="0" indent="0" lvl="0">
              <a:lnSpc>
                <a:spcPts val="275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54064" y="844918"/>
            <a:ext cx="7132719" cy="96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58"/>
              </a:lnSpc>
            </a:pPr>
            <a:r>
              <a:rPr lang="en-US" sz="7358">
                <a:solidFill>
                  <a:srgbClr val="6CB74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We Learnt: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0410" y="530777"/>
            <a:ext cx="497923" cy="497923"/>
          </a:xfrm>
          <a:custGeom>
            <a:avLst/>
            <a:gdLst/>
            <a:ahLst/>
            <a:cxnLst/>
            <a:rect r="r" b="b" t="t" l="l"/>
            <a:pathLst>
              <a:path h="497923" w="497923">
                <a:moveTo>
                  <a:pt x="0" y="0"/>
                </a:moveTo>
                <a:lnTo>
                  <a:pt x="497922" y="0"/>
                </a:lnTo>
                <a:lnTo>
                  <a:pt x="497922" y="497923"/>
                </a:lnTo>
                <a:lnTo>
                  <a:pt x="0" y="49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0410" y="2956579"/>
            <a:ext cx="497923" cy="497923"/>
          </a:xfrm>
          <a:custGeom>
            <a:avLst/>
            <a:gdLst/>
            <a:ahLst/>
            <a:cxnLst/>
            <a:rect r="r" b="b" t="t" l="l"/>
            <a:pathLst>
              <a:path h="497923" w="497923">
                <a:moveTo>
                  <a:pt x="0" y="0"/>
                </a:moveTo>
                <a:lnTo>
                  <a:pt x="497922" y="0"/>
                </a:lnTo>
                <a:lnTo>
                  <a:pt x="497922" y="497923"/>
                </a:lnTo>
                <a:lnTo>
                  <a:pt x="0" y="49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30410" y="5382381"/>
            <a:ext cx="497923" cy="497923"/>
          </a:xfrm>
          <a:custGeom>
            <a:avLst/>
            <a:gdLst/>
            <a:ahLst/>
            <a:cxnLst/>
            <a:rect r="r" b="b" t="t" l="l"/>
            <a:pathLst>
              <a:path h="497923" w="497923">
                <a:moveTo>
                  <a:pt x="0" y="0"/>
                </a:moveTo>
                <a:lnTo>
                  <a:pt x="497922" y="0"/>
                </a:lnTo>
                <a:lnTo>
                  <a:pt x="497922" y="497923"/>
                </a:lnTo>
                <a:lnTo>
                  <a:pt x="0" y="497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86453" y="7383494"/>
            <a:ext cx="785835" cy="785835"/>
          </a:xfrm>
          <a:custGeom>
            <a:avLst/>
            <a:gdLst/>
            <a:ahLst/>
            <a:cxnLst/>
            <a:rect r="r" b="b" t="t" l="l"/>
            <a:pathLst>
              <a:path h="785835" w="785835">
                <a:moveTo>
                  <a:pt x="0" y="0"/>
                </a:moveTo>
                <a:lnTo>
                  <a:pt x="785836" y="0"/>
                </a:lnTo>
                <a:lnTo>
                  <a:pt x="785836" y="785835"/>
                </a:lnTo>
                <a:lnTo>
                  <a:pt x="0" y="785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79371" y="1970440"/>
            <a:ext cx="7315200" cy="146304"/>
          </a:xfrm>
          <a:custGeom>
            <a:avLst/>
            <a:gdLst/>
            <a:ahLst/>
            <a:cxnLst/>
            <a:rect r="r" b="b" t="t" l="l"/>
            <a:pathLst>
              <a:path h="146304" w="7315200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79371" y="4458266"/>
            <a:ext cx="7315200" cy="146304"/>
          </a:xfrm>
          <a:custGeom>
            <a:avLst/>
            <a:gdLst/>
            <a:ahLst/>
            <a:cxnLst/>
            <a:rect r="r" b="b" t="t" l="l"/>
            <a:pathLst>
              <a:path h="146304" w="7315200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79371" y="6484715"/>
            <a:ext cx="7315200" cy="146304"/>
          </a:xfrm>
          <a:custGeom>
            <a:avLst/>
            <a:gdLst/>
            <a:ahLst/>
            <a:cxnLst/>
            <a:rect r="r" b="b" t="t" l="l"/>
            <a:pathLst>
              <a:path h="146304" w="7315200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79371" y="9325423"/>
            <a:ext cx="7315200" cy="146304"/>
          </a:xfrm>
          <a:custGeom>
            <a:avLst/>
            <a:gdLst/>
            <a:ahLst/>
            <a:cxnLst/>
            <a:rect r="r" b="b" t="t" l="l"/>
            <a:pathLst>
              <a:path h="146304" w="7315200">
                <a:moveTo>
                  <a:pt x="0" y="0"/>
                </a:moveTo>
                <a:lnTo>
                  <a:pt x="7315200" y="0"/>
                </a:lnTo>
                <a:lnTo>
                  <a:pt x="7315200" y="146304"/>
                </a:lnTo>
                <a:lnTo>
                  <a:pt x="0" y="1463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236643"/>
            <a:ext cx="7951771" cy="252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54"/>
              </a:lnSpc>
            </a:pPr>
            <a:r>
              <a:rPr lang="en-US" sz="7039">
                <a:solidFill>
                  <a:srgbClr val="6CB74E"/>
                </a:solidFill>
                <a:latin typeface="The Seasons"/>
                <a:ea typeface="The Seasons"/>
                <a:cs typeface="The Seasons"/>
                <a:sym typeface="The Seasons"/>
              </a:rPr>
              <a:t>IMPLEMENTATION STATUS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81807"/>
            <a:ext cx="7485078" cy="108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98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We are methodic</a:t>
            </a:r>
            <a:r>
              <a:rPr lang="en-US" sz="298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ally bringing the project in execution.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62299" y="286985"/>
            <a:ext cx="5455260" cy="13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6"/>
              </a:lnSpc>
            </a:pPr>
            <a:r>
              <a:rPr lang="en-US" sz="3847">
                <a:solidFill>
                  <a:srgbClr val="7ED957"/>
                </a:solidFill>
                <a:latin typeface="The Seasons"/>
                <a:ea typeface="The Seasons"/>
                <a:cs typeface="The Seasons"/>
                <a:sym typeface="The Seasons"/>
              </a:rPr>
              <a:t>BASIC CISCO PACKET TRACER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2299" y="2712786"/>
            <a:ext cx="5455260" cy="69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6"/>
              </a:lnSpc>
            </a:pPr>
            <a:r>
              <a:rPr lang="en-US" sz="3847">
                <a:solidFill>
                  <a:srgbClr val="6CB74E"/>
                </a:solidFill>
                <a:latin typeface="The Seasons"/>
                <a:ea typeface="The Seasons"/>
                <a:cs typeface="The Seasons"/>
                <a:sym typeface="The Seasons"/>
              </a:rPr>
              <a:t>VLAN CONFIGURATIONS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2299" y="5138588"/>
            <a:ext cx="5455260" cy="69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6"/>
              </a:lnSpc>
            </a:pPr>
            <a:r>
              <a:rPr lang="en-US" sz="3847">
                <a:solidFill>
                  <a:srgbClr val="6CB74E"/>
                </a:solidFill>
                <a:latin typeface="The Seasons"/>
                <a:ea typeface="The Seasons"/>
                <a:cs typeface="The Seasons"/>
                <a:sym typeface="The Seasons"/>
              </a:rPr>
              <a:t>LITERATURE REVIEW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45999" y="7269194"/>
            <a:ext cx="5455260" cy="13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86"/>
              </a:lnSpc>
            </a:pPr>
            <a:r>
              <a:rPr lang="en-US" sz="3847">
                <a:solidFill>
                  <a:srgbClr val="6CB74E"/>
                </a:solidFill>
                <a:latin typeface="The Seasons"/>
                <a:ea typeface="The Seasons"/>
                <a:cs typeface="The Seasons"/>
                <a:sym typeface="The Seasons"/>
              </a:rPr>
              <a:t>DESIGN &amp; FINAL IMPLEMENTATION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97790" y="1283988"/>
            <a:ext cx="2039538" cy="36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9"/>
              </a:lnSpc>
            </a:pPr>
            <a:r>
              <a:rPr lang="en-US" sz="2099" spc="419">
                <a:solidFill>
                  <a:srgbClr val="6CB74E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97790" y="3839902"/>
            <a:ext cx="2039538" cy="36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9"/>
              </a:lnSpc>
            </a:pPr>
            <a:r>
              <a:rPr lang="en-US" sz="2099" spc="419">
                <a:solidFill>
                  <a:srgbClr val="6CB74E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97790" y="5945599"/>
            <a:ext cx="2039538" cy="36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9"/>
              </a:lnSpc>
            </a:pPr>
            <a:r>
              <a:rPr lang="en-US" sz="2099" spc="419">
                <a:solidFill>
                  <a:srgbClr val="6CB74E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97790" y="8358304"/>
            <a:ext cx="2039538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2100" spc="420">
                <a:solidFill>
                  <a:srgbClr val="6CB74E">
                    <a:alpha val="50980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In progress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38" y="1247302"/>
            <a:ext cx="15337524" cy="7792397"/>
            <a:chOff x="0" y="0"/>
            <a:chExt cx="20450032" cy="10389862"/>
          </a:xfrm>
        </p:grpSpPr>
        <p:sp>
          <p:nvSpPr>
            <p:cNvPr name="TextBox 3" id="3"/>
            <p:cNvSpPr txBox="true"/>
            <p:nvPr/>
          </p:nvSpPr>
          <p:spPr>
            <a:xfrm rot="-347998">
              <a:off x="392525" y="2908770"/>
              <a:ext cx="18421361" cy="470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48"/>
                </a:lnSpc>
              </a:pPr>
              <a:r>
                <a:rPr lang="en-US" sz="32996">
                  <a:solidFill>
                    <a:srgbClr val="6CB74E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Thank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2620639" y="5515417"/>
              <a:ext cx="17829392" cy="4874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21"/>
                </a:lnSpc>
              </a:pPr>
              <a:r>
                <a:rPr lang="en-US" sz="34221">
                  <a:solidFill>
                    <a:srgbClr val="6CB74E"/>
                  </a:solidFill>
                  <a:latin typeface="Have Heart One"/>
                  <a:ea typeface="Have Heart One"/>
                  <a:cs typeface="Have Heart One"/>
                  <a:sym typeface="Have Heart One"/>
                </a:rPr>
                <a:t>you!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Privacy Policy Analyzer</dc:description>
  <dc:identifier>DAHC_YQZUX0</dc:identifier>
  <dcterms:modified xsi:type="dcterms:W3CDTF">2011-08-01T06:04:30Z</dcterms:modified>
  <cp:revision>1</cp:revision>
  <dc:title>GroupNo38</dc:title>
</cp:coreProperties>
</file>